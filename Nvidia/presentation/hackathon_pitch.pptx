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82880" cy="201168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0116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Helvetica"/>
              </a:rPr>
              <a:t>Customer Driven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76B900"/>
                </a:solidFill>
                <a:latin typeface="Helvetica"/>
              </a:rPr>
              <a:t>Building a Semantic Bridge from Reviews to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65760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Korean fashion review curation powered by NeMo Curator + Nemotron-Super 120B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6707A"/>
                </a:solidFill>
                <a:latin typeface="Helvetica"/>
              </a:rPr>
              <a:t>NVIDIA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179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200" b="0">
                <a:solidFill>
                  <a:srgbClr val="66707A"/>
                </a:solidFill>
                <a:latin typeface="Helvetica"/>
              </a:rPr>
              <a:t>Coupang Catalog Enrichment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The Gap: Intent vs Attributes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Keyword search cannot reach the customer's real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1031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Helvetica"/>
              </a:rPr>
              <a:t>"내일 결혼식 갈 때 입을 옷" →
Customer speaks in TPO / situation / emotion.
Catalog stores only material / color / fit —
a keyword engine finds nothing useful.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89320" y="2606040"/>
            <a:ext cx="822960" cy="457200"/>
          </a:xfrm>
          <a:prstGeom prst="rightArrow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03720" y="1737360"/>
            <a:ext cx="4572000" cy="210312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182880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194560"/>
            <a:ext cx="429768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Helvetica"/>
              </a:rPr>
              <a:t>Mine a Semantic Bridge from reviews.
Reviews already carry TPO + attributes
in natural language. Curate them with an
LLM into canonical intents that map to
catalog attributes.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1480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76B900"/>
                </a:solidFill>
                <a:latin typeface="Helvetica"/>
              </a:rPr>
              <a:t>reviews  →  canonical TPO intents  →  attribute bundles  →  natural-language queries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" y="4754880"/>
            <a:ext cx="20116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500" b="1">
                <a:solidFill>
                  <a:srgbClr val="0E1A2B"/>
                </a:solidFill>
                <a:latin typeface="Helvetica"/>
              </a:rPr>
              <a:t>일상용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49727" y="4754880"/>
            <a:ext cx="20116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500" b="1">
                <a:solidFill>
                  <a:srgbClr val="0E1A2B"/>
                </a:solidFill>
                <a:latin typeface="Helvetica"/>
              </a:rPr>
              <a:t>출근룩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4754880"/>
            <a:ext cx="20116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500" b="1">
                <a:solidFill>
                  <a:srgbClr val="0E1A2B"/>
                </a:solidFill>
                <a:latin typeface="Helvetica"/>
              </a:rPr>
              <a:t>하객룩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0287" y="4754880"/>
            <a:ext cx="20116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500" b="1">
                <a:solidFill>
                  <a:srgbClr val="0E1A2B"/>
                </a:solidFill>
                <a:latin typeface="Helvetica"/>
              </a:rPr>
              <a:t>스크린골프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70567" y="4754880"/>
            <a:ext cx="20116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500" b="1">
                <a:solidFill>
                  <a:srgbClr val="0E1A2B"/>
                </a:solidFill>
                <a:latin typeface="Helvetica"/>
              </a:rPr>
              <a:t>필라테스 레이어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66707A"/>
                </a:solidFill>
                <a:latin typeface="Helvetica"/>
              </a:rPr>
              <a:t>260 canonical intents curated from 10 K Korean fashion reviews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The NVIDIA + NeMo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Data pipeline · Korean-personalized synthesis · inference · independent 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5147" y="1737360"/>
            <a:ext cx="3611880" cy="205740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8027" y="192024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NeMo Curator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027" y="2468880"/>
            <a:ext cx="32461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"/>
              </a:rPr>
              <a:t>Pipeline orchestration for Stage 1 — synth, filter, dedup, aggregate. Clean abstractions let every sub-stage iterate independently.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9907" y="1737360"/>
            <a:ext cx="3611880" cy="205740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2787" y="192024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NeMo Data Designer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2787" y="2468880"/>
            <a:ext cx="32461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"/>
              </a:rPr>
              <a:t>Structured synthetic-data generation with seeded per-row LLM prompts. Stage 1.1 synthesizes reviews conditioned on seed + persona.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4667" y="1737360"/>
            <a:ext cx="3611880" cy="205740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547" y="192024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Korean Personalized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547" y="2468880"/>
            <a:ext cx="32461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"/>
              </a:rPr>
              <a:t>7-field persona space — age · sex · occupation · province · district · character · hobbies. Each synthetic review is anchored to a distinct Korean shopper.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147" y="3977640"/>
            <a:ext cx="3611880" cy="2057400"/>
          </a:xfrm>
          <a:prstGeom prst="roundRect">
            <a:avLst/>
          </a:prstGeom>
          <a:solidFill>
            <a:srgbClr val="1A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027" y="416052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Nemotron-Super 120B (FP8)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27" y="4709160"/>
            <a:ext cx="32461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"/>
              </a:rPr>
              <a:t>Long-context Korean reasoning on Brev H100 NVL × 2, served via vLLM. enable_thinking=False for direct structured JSON.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907" y="3977640"/>
            <a:ext cx="3611880" cy="2057400"/>
          </a:xfrm>
          <a:prstGeom prst="roundRect">
            <a:avLst/>
          </a:prstGeom>
          <a:solidFill>
            <a:srgbClr val="1A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416052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Friendli Tri-Judge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4709160"/>
            <a:ext cx="32461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"/>
              </a:rPr>
              <a:t>GLM-5.1 · DeepSeek-V3.2 · Qwen3-235B-A22B on serverless. Three independent foreign judges — Wisdom-of-the-Crowd eval.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4667" y="3977640"/>
            <a:ext cx="3611880" cy="2057400"/>
          </a:xfrm>
          <a:prstGeom prst="roundRect">
            <a:avLst/>
          </a:prstGeom>
          <a:solidFill>
            <a:srgbClr val="1A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7547" y="4160520"/>
            <a:ext cx="324612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BGE-M3 + scipy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7547" y="4709160"/>
            <a:ext cx="32461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"/>
              </a:rPr>
              <a:t>Korean semantic similarity drives Stage 2.2 agglomerative clustering and Stage 2.1.5 semantic dedup.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7220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Helvetica"/>
              </a:rPr>
              <a:t>Deployed on Brev · H100 NVL ×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Why This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Domain fit, throughput, and evaluation independence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840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6B900"/>
                </a:solidFill>
                <a:latin typeface="Helvetica"/>
              </a:rPr>
              <a:t>▸ Korean-first reasoning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68580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Helvetica"/>
              </a:rPr>
              <a:t>Nemotron-Super 120B handles Korean TPO nuance (존댓말/반말, 은어) without fine-tuning; few-shot + constrained JSON is enough.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3840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6B900"/>
                </a:solidFill>
                <a:latin typeface="Helvetica"/>
              </a:rPr>
              <a:t>▸ Hackathon-scale throughput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834640"/>
            <a:ext cx="68580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Helvetica"/>
              </a:rPr>
              <a:t>FP8 on H100 NVL × 2 keeps end-to-end latency low — 5 497 synthetic reviews curated to 260 canonicals in minutes, not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3840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6B900"/>
                </a:solidFill>
                <a:latin typeface="Helvetica"/>
              </a:rPr>
              <a:t>▸ NeMo Curator as pipeline spine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840480"/>
            <a:ext cx="68580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Helvetica"/>
              </a:rPr>
              <a:t>Stage 1 synthetic + dedup + filter follow the Curator idioms. Clean abstraction boundaries let us iterate each stage independently.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46320"/>
            <a:ext cx="3840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6B900"/>
                </a:solidFill>
                <a:latin typeface="Helvetica"/>
              </a:rPr>
              <a:t>▸ Independent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46320"/>
            <a:ext cx="68580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Helvetica"/>
              </a:rPr>
              <a:t>Friendli hosts 3 foreign judges — self-evaluation is a known failure mode; three diverse judges catch each other's blind spots.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Our Approach: Whole Build → Evaluate → Iterate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Three-phase strategy — prove the end-to-end before tuning any single 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1828800"/>
            <a:ext cx="365760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011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1 · WHOLE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" y="246888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Helvetica"/>
              </a:rPr>
              <a:t>End-to-end pipeline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" y="2926080"/>
            <a:ext cx="320040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Stage 1: synth + dedup + filter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Stage 2: extract → cluster → aggregate → expand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10 K docs → 260 canonical TPOs → 1.3 K queries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047" y="1828800"/>
            <a:ext cx="365760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647" y="2011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2 · EVAL INFRA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647" y="246888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Helvetica"/>
              </a:rPr>
              <a:t>Every stage gets its own judge.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647" y="2926080"/>
            <a:ext cx="320040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5 LLM judge modules (stage_1_2, stage_2_1/2/3/4)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3-way tri-judge ensemble via Friendli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Deterministic probes for leak / format / diversity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3247" y="1828800"/>
            <a:ext cx="365760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1847" y="2011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76B900"/>
                </a:solidFill>
                <a:latin typeface="Helvetica"/>
              </a:rPr>
              <a:t>3 · ITERATE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1847" y="246888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Helvetica"/>
              </a:rPr>
              <a:t>Hypothesis → patch → judge → promote.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1847" y="2926080"/>
            <a:ext cx="320040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One sealed subagent per iteration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Eager-stacked promotion; rollback on regression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1A1A"/>
                </a:solidFill>
                <a:latin typeface="Helvetica"/>
              </a:rPr>
              <a:t>•  Stage 1: 23 iters, best 8 / 10 gates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992727" y="3291840"/>
            <a:ext cx="320040" cy="274320"/>
          </a:xfrm>
          <a:prstGeom prst="rightArrow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878927" y="3291840"/>
            <a:ext cx="320040" cy="274320"/>
          </a:xfrm>
          <a:prstGeom prst="rightArrow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Quality Engine: Wisdom of the Crowd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LLM-as-Judge × tri-judge consensus × deterministic probes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347472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6B900"/>
                </a:solidFill>
                <a:latin typeface="Helvetica"/>
              </a:rPr>
              <a:t>LLM-as-Judge ×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29260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elvetica"/>
              </a:rPr>
              <a:t>Three independent foreign models
vote on every stage output.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383280"/>
            <a:ext cx="29260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2834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E1A2B"/>
                </a:solidFill>
                <a:latin typeface="Helvetica"/>
              </a:rPr>
              <a:t>GLM-5.1   ·   Z.AI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4023360"/>
            <a:ext cx="29260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069080"/>
            <a:ext cx="2834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E1A2B"/>
                </a:solidFill>
                <a:latin typeface="Helvetica"/>
              </a:rPr>
              <a:t>DeepSeek-V3.2   ·   DeepSeek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663440"/>
            <a:ext cx="2926080" cy="50292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709160"/>
            <a:ext cx="2834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E1A2B"/>
                </a:solidFill>
                <a:latin typeface="Helvetica"/>
              </a:rPr>
              <a:t>Qwen3-235B-A22B   ·   Alibaba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828800"/>
            <a:ext cx="3200400" cy="34747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01168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7A00"/>
                </a:solidFill>
                <a:latin typeface="Helvetica"/>
              </a:rPr>
              <a:t>Wisdom of the Crowd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51760"/>
            <a:ext cx="274320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• mean(judge₁, judge₂, judge₃)
   → promote decision
• range &gt; 0.15
   → HIGH_VARIANCE, block
• agreement_rate on booleans
   → confidence 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3566160" cy="347472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20116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6B900"/>
                </a:solidFill>
                <a:latin typeface="Helvetica"/>
              </a:rPr>
              <a:t>Deterministic probes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651760"/>
            <a:ext cx="310896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elvetica"/>
              </a:rPr>
              <a:t>Catch what judges miss:
• title_reasoning_leak
• dedup_miss_rate
• canonical_non_fashion_rate
• query_non_hangul_chars_rate
• semdedup_retention
Structured report per iter:
judge_report · quant_report ·
comparison · metrics.json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66707A"/>
                </a:solidFill>
                <a:latin typeface="Helvetica"/>
              </a:rPr>
              <a:t>"No single judge, no single metric — promote only when the crowd agrees and the probes confirm."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Results: 23 Iterations,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Stage 1 Δ on tri-judge mean — baseline vs iter_21_dedup_v2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572000" cy="411480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76B900"/>
                </a:solidFill>
                <a:latin typeface="Helvetica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240280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Helvetica"/>
              </a:rPr>
              <a:t>iterations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76B900"/>
                </a:solidFill>
                <a:latin typeface="Helvetica"/>
              </a:rPr>
              <a:t>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154680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Helvetica"/>
              </a:rPr>
              <a:t>promote gates (up from 1 /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93192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76B900"/>
                </a:solidFill>
                <a:latin typeface="Helvetica"/>
              </a:rPr>
              <a:t>260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069080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Helvetica"/>
              </a:rPr>
              <a:t>canonical TPOs from 5 497 synthetic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2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76B900"/>
                </a:solidFill>
                <a:latin typeface="Helvetica"/>
              </a:rPr>
              <a:t>1.3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983480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Helvetica"/>
              </a:rPr>
              <a:t>natural-language queries generated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1783080"/>
            <a:ext cx="5943600" cy="41148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9202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F7A00"/>
                </a:solidFill>
                <a:latin typeface="Helvetica"/>
              </a:rPr>
              <a:t>Headline metric deltas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46888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66707A"/>
                </a:solidFill>
                <a:latin typeface="Helvetica"/>
              </a:rPr>
              <a:t>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4688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66707A"/>
                </a:solidFill>
                <a:latin typeface="Helvetica"/>
              </a:rP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246888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66707A"/>
                </a:solidFill>
                <a:latin typeface="Helvetica"/>
              </a:rPr>
              <a:t>iter_21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88036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title_reasoning_leak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88036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0">
                <a:solidFill>
                  <a:srgbClr val="66707A"/>
                </a:solidFill>
                <a:latin typeface="Helvetica"/>
              </a:rPr>
              <a:t>0.473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880360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1">
                <a:solidFill>
                  <a:srgbClr val="76B900"/>
                </a:solidFill>
                <a:latin typeface="Helvetica"/>
              </a:rPr>
              <a:t>→  0.013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33756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fashion_rate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33756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0">
                <a:solidFill>
                  <a:srgbClr val="66707A"/>
                </a:solidFill>
                <a:latin typeface="Helvetica"/>
              </a:rPr>
              <a:t>0.853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3337560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1">
                <a:solidFill>
                  <a:srgbClr val="76B900"/>
                </a:solidFill>
                <a:latin typeface="Helvetica"/>
              </a:rPr>
              <a:t>→  0.970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79476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persona_reflection (1-5)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79476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0">
                <a:solidFill>
                  <a:srgbClr val="66707A"/>
                </a:solidFill>
                <a:latin typeface="Helvetica"/>
              </a:rPr>
              <a:t>3.62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94760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1">
                <a:solidFill>
                  <a:srgbClr val="76B900"/>
                </a:solidFill>
                <a:latin typeface="Helvetica"/>
              </a:rPr>
              <a:t>→  4.66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25196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attr_grounded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25196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0">
                <a:solidFill>
                  <a:srgbClr val="66707A"/>
                </a:solidFill>
                <a:latin typeface="Helvetica"/>
              </a:rPr>
              <a:t>0.467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4251960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1">
                <a:solidFill>
                  <a:srgbClr val="76B900"/>
                </a:solidFill>
                <a:latin typeface="Helvetica"/>
              </a:rPr>
              <a:t>→  0.990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470916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stage_1_2 retention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70916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0">
                <a:solidFill>
                  <a:srgbClr val="66707A"/>
                </a:solidFill>
                <a:latin typeface="Helvetica"/>
              </a:rPr>
              <a:t>0.00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4709160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1">
                <a:solidFill>
                  <a:srgbClr val="76B900"/>
                </a:solidFill>
                <a:latin typeface="Helvetica"/>
              </a:rPr>
              <a:t>→  1.00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516636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rating_3_share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516636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0">
                <a:solidFill>
                  <a:srgbClr val="66707A"/>
                </a:solidFill>
                <a:latin typeface="Helvetica"/>
              </a:rPr>
              <a:t>0.00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5166360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400" b="1">
                <a:solidFill>
                  <a:srgbClr val="76B900"/>
                </a:solidFill>
                <a:latin typeface="Helvetica"/>
              </a:rPr>
              <a:t>→  0.26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0350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6707A"/>
                </a:solidFill>
                <a:latin typeface="Helvetica"/>
              </a:rPr>
              <a:t>Remaining blockers: avg_text_quality (structural Naver floor) · dedup_miss_rate (semantic dedup queued)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Hypotheses: What Worked,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9 wins · 11 rejected · 2 deferred — each committed with a judge report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16052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1645920" cy="411480"/>
          </a:xfrm>
          <a:prstGeom prst="round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>
                <a:solidFill>
                  <a:srgbClr val="0E1A2B"/>
                </a:solidFill>
                <a:latin typeface="Helvetica"/>
              </a:rPr>
              <a:t>WINS ·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82880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  <a:latin typeface="Helvetica"/>
              </a:rPr>
              <a:t>9 hypotheses stacked into the best pipeline (iter_21)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H11 · review_requires_attr_mention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"/>
              </a:rPr>
              <a:t>attr_grounded  0.467 → 0.99   (biggest single jump)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H3 · title_postprocess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9067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"/>
              </a:rPr>
              <a:t>title_leak  0.473 → 0.06   (best single-lever fix)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H9 · korean_quality_filter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935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"/>
              </a:rPr>
              <a:t>stage_1_2 retention  0.00 → 1.00   (structural unblock)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H12 · postgen_fashion_filter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9651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"/>
              </a:rPr>
              <a:t>fashion_rate  0.867 → 0.953 → 0.977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4340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H8 · persona_binding_prompt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9943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"/>
              </a:rPr>
              <a:t>persona_reflection  3.62 → 4.51;  rating-sentiment 0.78 → 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H4v2 · rating_category_sampler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10235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"/>
              </a:rPr>
              <a:t>rating_3_share  0.00 → 0.30   (seed side couldn't — H4 falsified)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4924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  <a:latin typeface="Helvetica"/>
              </a:rPr>
              <a:t>H5v2 + H1 + H3v3  — stacked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0527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"/>
              </a:rPr>
              <a:t>attr diversity · title prompt · leak regex   (small cumulative Δ)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691640"/>
            <a:ext cx="5029200" cy="416052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29400" y="1783080"/>
            <a:ext cx="1645920" cy="411480"/>
          </a:xfrm>
          <a:prstGeom prst="roundRect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>
                <a:solidFill>
                  <a:srgbClr val="0E1A2B"/>
                </a:solidFill>
                <a:latin typeface="Helvetica"/>
              </a:rPr>
              <a:t>ROLLED 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1828800"/>
            <a:ext cx="28346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6707A"/>
                </a:solidFill>
                <a:latin typeface="Helvetica"/>
              </a:rPr>
              <a:t>11 hypotheses falsified — each was a cheap negative 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331720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H4 · seed_rating_3_injection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587752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elvetica"/>
              </a:rPr>
              <a:t>impossible — Naver corpus has 0 rating=3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834640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H7 · non_fashion_seed_filter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090672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elvetica"/>
              </a:rPr>
              <a:t>regression — exclude-list too aggressive, fashion_rate 0.85 → 0.79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337560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H3v2 · 45_char_cap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593592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elvetica"/>
              </a:rPr>
              <a:t>regression — wider cap let reasoning fragments survive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840480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H3v4 · prose_reasoning_fallback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096512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elvetica"/>
              </a:rPr>
              <a:t>regression — 4-char Korean fallback broke min-length format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343400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H14 / H14v2 · python_jaccard dedup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599432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elvetica"/>
              </a:rPr>
              <a:t>no-op — pure-Python rule dedup fired 0 removals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846320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H2 · title_max_tokens_short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102352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elvetica"/>
              </a:rPr>
              <a:t>partial — dominated by H3, not stacked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349240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7A00"/>
                </a:solidFill>
                <a:latin typeface="Helvetica"/>
              </a:rPr>
              <a:t>H13 / H6 / H7v2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05272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elvetica"/>
              </a:rPr>
              <a:t>mixed or trivially wrong; all committed as negative 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66707A"/>
                </a:solidFill>
                <a:latin typeface="Helvetica"/>
              </a:rPr>
              <a:t>Falsifiability is cheap at 13 min per iter. Every "loss" was a ruled-out branch — not wasted work but a recorded negative signal in 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09728" cy="54864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Helvetica"/>
              </a:rPr>
              <a:t>Data +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6707A"/>
                </a:solidFill>
                <a:latin typeface="Helvetica"/>
              </a:rPr>
              <a:t>What we curated and where it plugs 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572000" cy="4114800"/>
          </a:xfrm>
          <a:prstGeom prst="round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023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6B900"/>
                </a:solidFill>
                <a:latin typeface="Helvetica"/>
              </a:rPr>
              <a:t>Data acquired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402336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Helvetica"/>
              </a:rPr>
              <a:t>•  10 K Korean fashion reviews (Musinsa, Naver Shopping, YouTube)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Helvetica"/>
              </a:rPr>
              <a:t>•  Synthetic expansion → 5 497 curated reviews (Stage 1 pipeline)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Helvetica"/>
              </a:rPr>
              <a:t>•  Curated to 260 canonical TPOs (Stage 2.2 clustering + LLM naming)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Helvetica"/>
              </a:rPr>
              <a:t>•  Long-tail examples: 스크린골프, 낚시복, 필라테스 레이어, 분식룩</a:t>
            </a:r>
          </a:p>
          <a:p>
            <a:pPr lvl="1" algn="l">
              <a:lnSpc>
                <a:spcPct val="135000"/>
              </a:lnSpc>
            </a:pPr>
            <a:r>
              <a:rPr sz="1100" b="0">
                <a:solidFill>
                  <a:srgbClr val="AABBCC"/>
                </a:solidFill>
                <a:latin typeface="Helvetica"/>
              </a:rPr>
              <a:t>–  Head-tail coverage: 일상용 (1 145), 출근룩 (581), 데일리룩 (293)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783080"/>
            <a:ext cx="5943600" cy="41148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96596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7A00"/>
                </a:solidFill>
                <a:latin typeface="Helvetica"/>
              </a:rPr>
              <a:t>Use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69748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E1A2B"/>
                </a:solidFill>
                <a:latin typeface="Helvetica"/>
              </a:rPr>
              <a:t>▸ Semantic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697480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Helvetica"/>
              </a:rPr>
              <a:t>Natural-language query → canonical TPO → attribute filter on catalog.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502152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E1A2B"/>
                </a:solidFill>
                <a:latin typeface="Helvetica"/>
              </a:rPr>
              <a:t>▸ Recommendation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502152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Helvetica"/>
              </a:rPr>
              <a:t>Customer situation (upcoming event, weather, mood) → ranked intent bundle.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306824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E1A2B"/>
                </a:solidFill>
                <a:latin typeface="Helvetica"/>
              </a:rPr>
              <a:t>▸ Ad / SEO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306824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Helvetica"/>
              </a:rPr>
              <a:t>1 canonical × 5 natural-language variants → ready-made keyword sets.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5111496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E1A2B"/>
                </a:solidFill>
                <a:latin typeface="Helvetica"/>
              </a:rPr>
              <a:t>▸ Catalog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111496"/>
            <a:ext cx="32004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Helvetica"/>
              </a:rPr>
              <a:t>Long-tail TPOs surface product gaps (e.g. 스크린골프 웨어 demand signal).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76B900"/>
                </a:solidFill>
                <a:latin typeface="Helvetica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