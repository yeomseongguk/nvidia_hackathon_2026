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82880" cy="20116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Helvetica"/>
              </a:rPr>
              <a:t>Customer Driven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0175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76B900"/>
                </a:solidFill>
                <a:latin typeface="Helvetica"/>
              </a:rPr>
              <a:t>Building a Semantic Bridge from Reviews to Catalog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65760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66707A"/>
                </a:solidFill>
                <a:latin typeface="Helvetica"/>
              </a:rPr>
              <a:t>Korean fashion review curation powered by NeMo Curator + Nemotron-Super 120B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6707A"/>
                </a:solidFill>
                <a:latin typeface="Helvetica"/>
              </a:rPr>
              <a:t>NVIDIA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21792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66707A"/>
                </a:solidFill>
                <a:latin typeface="Helvetica"/>
              </a:rPr>
              <a:t>Coupang Catalog Enrichment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54864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Helvetica"/>
              </a:rPr>
              <a:t>The Gap: Intent vs Attributes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66707A"/>
                </a:solidFill>
                <a:latin typeface="Helvetica"/>
              </a:rPr>
              <a:t>Keyword search cannot reach the customer's real query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21031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7A00"/>
                </a:solidFill>
                <a:latin typeface="Helvetica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75488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Helvetica"/>
              </a:rPr>
              <a:t>"내일 결혼식 갈 때 입을 옷" →
Customer speaks in TPO / situation / emotion.
Catalog stores only material / color / fit —
a keyword engine finds nothing useful.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89320" y="2606040"/>
            <a:ext cx="822960" cy="4572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03720" y="1737360"/>
            <a:ext cx="4572000" cy="2103120"/>
          </a:xfrm>
          <a:prstGeom prst="round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1828800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76B900"/>
                </a:solidFill>
                <a:latin typeface="Helvetica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194560"/>
            <a:ext cx="429768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elvetica"/>
              </a:rPr>
              <a:t>Mine a Semantic Bridge from reviews.
Reviews already carry TPO + attributes
in natural language. Curate them with an
LLM into canonical intents that map to
catalog attributes.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76B900"/>
                </a:solidFill>
                <a:latin typeface="Helvetica"/>
              </a:rPr>
              <a:t>reviews  →  canonical TPO intents  →  attribute bundles  →  natural-language queries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447" y="4754880"/>
            <a:ext cx="2011680" cy="50292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500" b="1">
                <a:solidFill>
                  <a:srgbClr val="0E1A2B"/>
                </a:solidFill>
                <a:latin typeface="Helvetica"/>
              </a:rPr>
              <a:t>일상용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49727" y="4754880"/>
            <a:ext cx="2011680" cy="50292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500" b="1">
                <a:solidFill>
                  <a:srgbClr val="0E1A2B"/>
                </a:solidFill>
                <a:latin typeface="Helvetica"/>
              </a:rPr>
              <a:t>출근룩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0007" y="4754880"/>
            <a:ext cx="2011680" cy="50292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500" b="1">
                <a:solidFill>
                  <a:srgbClr val="0E1A2B"/>
                </a:solidFill>
                <a:latin typeface="Helvetica"/>
              </a:rPr>
              <a:t>하객룩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30287" y="4754880"/>
            <a:ext cx="2011680" cy="50292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500" b="1">
                <a:solidFill>
                  <a:srgbClr val="0E1A2B"/>
                </a:solidFill>
                <a:latin typeface="Helvetica"/>
              </a:rPr>
              <a:t>스크린골프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70567" y="4754880"/>
            <a:ext cx="2011680" cy="50292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500" b="1">
                <a:solidFill>
                  <a:srgbClr val="0E1A2B"/>
                </a:solidFill>
                <a:latin typeface="Helvetica"/>
              </a:rPr>
              <a:t>필라테스 레이어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66707A"/>
                </a:solidFill>
                <a:latin typeface="Helvetica"/>
              </a:rPr>
              <a:t>260 canonical intents curated from 10 K Korean fashion reviews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54864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Helvetica"/>
              </a:rPr>
              <a:t>The NVIDIA + NeMo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66707A"/>
                </a:solidFill>
                <a:latin typeface="Helvetica"/>
              </a:rPr>
              <a:t>Data pipeline · Korean-personalized synthesis · inference · independent eval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147" y="1737360"/>
            <a:ext cx="3611880" cy="2057400"/>
          </a:xfrm>
          <a:prstGeom prst="round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8027" y="1920240"/>
            <a:ext cx="32461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76B900"/>
                </a:solidFill>
                <a:latin typeface="Helvetica"/>
              </a:rPr>
              <a:t>NeMo Curator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027" y="2468880"/>
            <a:ext cx="32461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"/>
              </a:rPr>
              <a:t>Pipeline orchestration for Stage 1 — synth, filter, dedup, aggregate. Clean abstractions let every sub-stage iterate independently.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9907" y="1737360"/>
            <a:ext cx="3611880" cy="2057400"/>
          </a:xfrm>
          <a:prstGeom prst="round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2787" y="1920240"/>
            <a:ext cx="32461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76B900"/>
                </a:solidFill>
                <a:latin typeface="Helvetica"/>
              </a:rPr>
              <a:t>NeMo Data Designer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2787" y="2468880"/>
            <a:ext cx="32461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"/>
              </a:rPr>
              <a:t>Structured synthetic-data generation with seeded per-row LLM prompts. Stage 1.1 synthesizes reviews conditioned on seed + persona.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4667" y="1737360"/>
            <a:ext cx="3611880" cy="2057400"/>
          </a:xfrm>
          <a:prstGeom prst="round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7547" y="1920240"/>
            <a:ext cx="32461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76B900"/>
                </a:solidFill>
                <a:latin typeface="Helvetica"/>
              </a:rPr>
              <a:t>Korean Personalized Persona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7547" y="2468880"/>
            <a:ext cx="32461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"/>
              </a:rPr>
              <a:t>7-field persona space — age · sex · occupation · province · district · character · hobbies. Each synthetic review is anchored to a distinct Korean shopper.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5147" y="3977640"/>
            <a:ext cx="3611880" cy="2057400"/>
          </a:xfrm>
          <a:prstGeom prst="roundRect">
            <a:avLst/>
          </a:prstGeom>
          <a:solidFill>
            <a:srgbClr val="1A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027" y="4160520"/>
            <a:ext cx="32461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76B900"/>
                </a:solidFill>
                <a:latin typeface="Helvetica"/>
              </a:rPr>
              <a:t>Nemotron-Super 120B (FP8)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027" y="4709160"/>
            <a:ext cx="32461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"/>
              </a:rPr>
              <a:t>Long-context Korean reasoning on Brev H100 NVL × 2, served via vLLM. enable_thinking=False for direct structured JSON.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907" y="3977640"/>
            <a:ext cx="3611880" cy="2057400"/>
          </a:xfrm>
          <a:prstGeom prst="roundRect">
            <a:avLst/>
          </a:prstGeom>
          <a:solidFill>
            <a:srgbClr val="1A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2787" y="4160520"/>
            <a:ext cx="32461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76B900"/>
                </a:solidFill>
                <a:latin typeface="Helvetica"/>
              </a:rPr>
              <a:t>Friendli Tri-Judge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2787" y="4709160"/>
            <a:ext cx="32461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"/>
              </a:rPr>
              <a:t>GLM-5.1 · DeepSeek-V3.2 · Qwen3-235B-A22B on serverless. Three independent foreign judges — Wisdom-of-the-Crowd eval.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84667" y="3977640"/>
            <a:ext cx="3611880" cy="2057400"/>
          </a:xfrm>
          <a:prstGeom prst="roundRect">
            <a:avLst/>
          </a:prstGeom>
          <a:solidFill>
            <a:srgbClr val="1A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7547" y="4160520"/>
            <a:ext cx="32461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76B900"/>
                </a:solidFill>
                <a:latin typeface="Helvetica"/>
              </a:rPr>
              <a:t>BGE-M3 + scipy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7547" y="4709160"/>
            <a:ext cx="32461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"/>
              </a:rPr>
              <a:t>Korean semantic similarity drives Stage 2.2 agglomerative clustering and Stage 2.1.5 semantic dedup.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172200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66707A"/>
                </a:solidFill>
                <a:latin typeface="Helvetica"/>
              </a:rPr>
              <a:t>Deployed on Brev · H100 NVL ×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54864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Helvetica"/>
              </a:rPr>
              <a:t>Why This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66707A"/>
                </a:solidFill>
                <a:latin typeface="Helvetica"/>
              </a:rPr>
              <a:t>Domain fit, throughput, and evaluation independence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38404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76B900"/>
                </a:solidFill>
                <a:latin typeface="Helvetica"/>
              </a:rPr>
              <a:t>▸ Korean-first reasoning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685800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Helvetica"/>
              </a:rPr>
              <a:t>Nemotron-Super 120B handles Korean TPO nuance (존댓말/반말, 은어) without fine-tuning; few-shot + constrained JSON is enough.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38404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76B900"/>
                </a:solidFill>
                <a:latin typeface="Helvetica"/>
              </a:rPr>
              <a:t>▸ Hackathon-scale throughput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834640"/>
            <a:ext cx="685800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Helvetica"/>
              </a:rPr>
              <a:t>FP8 on H100 NVL × 2 keeps end-to-end latency low — 5 497 synthetic reviews curated to 260 canonicals in minutes, not hours.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38404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76B900"/>
                </a:solidFill>
                <a:latin typeface="Helvetica"/>
              </a:rPr>
              <a:t>▸ NeMo Curator as pipeline spine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840480"/>
            <a:ext cx="685800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Helvetica"/>
              </a:rPr>
              <a:t>Stage 1 synthetic + dedup + filter follow the Curator idioms. Clean abstraction boundaries let us iterate each stage independently.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46320"/>
            <a:ext cx="38404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76B900"/>
                </a:solidFill>
                <a:latin typeface="Helvetica"/>
              </a:rPr>
              <a:t>▸ Independent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846320"/>
            <a:ext cx="685800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Helvetica"/>
              </a:rPr>
              <a:t>Friendli hosts 3 foreign judges — self-evaluation is a known failure mode; three diverse judges catch each other's blind spots.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54864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Helvetica"/>
              </a:rPr>
              <a:t>Our Approach: Whole Build → Evaluate → Iterate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66707A"/>
                </a:solidFill>
                <a:latin typeface="Helvetica"/>
              </a:rPr>
              <a:t>Three-phase strategy — prove the end-to-end before tuning any single stage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0847" y="1828800"/>
            <a:ext cx="36576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447" y="20116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76B900"/>
                </a:solidFill>
                <a:latin typeface="Helvetica"/>
              </a:rPr>
              <a:t>1 · WHOLE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" y="246888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6707A"/>
                </a:solidFill>
                <a:latin typeface="Helvetica"/>
              </a:rPr>
              <a:t>End-to-end pipeline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447" y="2926080"/>
            <a:ext cx="3200400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Helvetica"/>
              </a:rPr>
              <a:t>•  Stage 1: synth + dedup + filter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Helvetica"/>
              </a:rPr>
              <a:t>•  Stage 2: extract → cluster → aggregate → expand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Helvetica"/>
              </a:rPr>
              <a:t>•  10 K docs → 260 canonical TPOs → 1.3 K queries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7047" y="1828800"/>
            <a:ext cx="36576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5647" y="20116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76B900"/>
                </a:solidFill>
                <a:latin typeface="Helvetica"/>
              </a:rPr>
              <a:t>2 · EVAL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5647" y="246888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6707A"/>
                </a:solidFill>
                <a:latin typeface="Helvetica"/>
              </a:rPr>
              <a:t>Every stage gets its own judge.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647" y="2926080"/>
            <a:ext cx="3200400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Helvetica"/>
              </a:rPr>
              <a:t>•  5 LLM judge modules (stage_1_2, stage_2_1/2/3/4)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Helvetica"/>
              </a:rPr>
              <a:t>•  3-way tri-judge ensemble via Friendli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Helvetica"/>
              </a:rPr>
              <a:t>•  Deterministic probes for leak / format / diversity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3247" y="1828800"/>
            <a:ext cx="365760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1847" y="20116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76B900"/>
                </a:solidFill>
                <a:latin typeface="Helvetica"/>
              </a:rPr>
              <a:t>3 · ITERATE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1847" y="246888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6707A"/>
                </a:solidFill>
                <a:latin typeface="Helvetica"/>
              </a:rPr>
              <a:t>Hypothesis → patch → judge → promote.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1847" y="2926080"/>
            <a:ext cx="3200400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Helvetica"/>
              </a:rPr>
              <a:t>•  One sealed subagent per iteration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Helvetica"/>
              </a:rPr>
              <a:t>•  Eager-stacked promotion; rollback on regression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1A1A1A"/>
                </a:solidFill>
                <a:latin typeface="Helvetica"/>
              </a:rPr>
              <a:t>•  Stage 1: 23 iters, best 8 / 10 gates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992727" y="3291840"/>
            <a:ext cx="320040" cy="27432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7878927" y="3291840"/>
            <a:ext cx="320040" cy="27432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54864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Helvetica"/>
              </a:rPr>
              <a:t>Quality Engine: Wisdom of the Crowd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66707A"/>
                </a:solidFill>
                <a:latin typeface="Helvetica"/>
              </a:rPr>
              <a:t>LLM-as-Judge × tri-judge consensus × deterministic probes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3474720"/>
          </a:xfrm>
          <a:prstGeom prst="round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76B900"/>
                </a:solidFill>
                <a:latin typeface="Helvetica"/>
              </a:rPr>
              <a:t>LLM-as-Judge ×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9260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"/>
              </a:rPr>
              <a:t>Three independent foreign models
vote on every stage output.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383280"/>
            <a:ext cx="2926080" cy="50292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29000"/>
            <a:ext cx="28346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0E1A2B"/>
                </a:solidFill>
                <a:latin typeface="Helvetica"/>
              </a:rPr>
              <a:t>GLM-5.1   ·   Z.AI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023360"/>
            <a:ext cx="2926080" cy="50292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069080"/>
            <a:ext cx="28346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0E1A2B"/>
                </a:solidFill>
                <a:latin typeface="Helvetica"/>
              </a:rPr>
              <a:t>DeepSeek-V3.2   ·   DeepSeek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663440"/>
            <a:ext cx="2926080" cy="50292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709160"/>
            <a:ext cx="28346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0E1A2B"/>
                </a:solidFill>
                <a:latin typeface="Helvetica"/>
              </a:rPr>
              <a:t>Qwen3-235B-A22B   ·   Alibaba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828800"/>
            <a:ext cx="3200400" cy="3474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01168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7A00"/>
                </a:solidFill>
                <a:latin typeface="Helvetica"/>
              </a:rPr>
              <a:t>Wisdom of the Crowd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651760"/>
            <a:ext cx="2743200" cy="2560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Helvetica"/>
              </a:rPr>
              <a:t>• mean(judge₁, judge₂, judge₃)
   → promote decision
• range &gt; 0.15
   → HIGH_VARIANCE, block
• agreement_rate on booleans
   → confidence 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1828800"/>
            <a:ext cx="3566160" cy="3474720"/>
          </a:xfrm>
          <a:prstGeom prst="round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201168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76B900"/>
                </a:solidFill>
                <a:latin typeface="Helvetica"/>
              </a:rPr>
              <a:t>Deterministic probes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651760"/>
            <a:ext cx="3108960" cy="2560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"/>
              </a:rPr>
              <a:t>Catch what judges miss:
• title_reasoning_leak
• dedup_miss_rate
• canonical_non_fashion_rate
• query_non_hangul_chars_rate
• semdedup_retention
Structured report per iter:
judge_report · quant_report ·
comparison · metrics.json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6928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66707A"/>
                </a:solidFill>
                <a:latin typeface="Helvetica"/>
              </a:rPr>
              <a:t>"No single judge, no single metric — promote only when the crowd agrees and the probes confirm."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54864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Helvetica"/>
              </a:rPr>
              <a:t>Results: Stage 1  +  Stage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66707A"/>
                </a:solidFill>
                <a:latin typeface="Helvetica"/>
              </a:rPr>
              <a:t>23 iters on Stage 1 (iter_21), 6 iters on Stage 2 (iter_04 C1) — all tri-judge mean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486400" cy="4343400"/>
          </a:xfrm>
          <a:prstGeom prst="round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874520"/>
            <a:ext cx="1280160" cy="36576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0E1A2B"/>
                </a:solidFill>
                <a:latin typeface="Helvetica"/>
              </a:rP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874520"/>
            <a:ext cx="3657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elvetica"/>
              </a:rPr>
              <a:t>23 iters · 8 / 10 gates  (baseline 1 / 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28346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AABBCC"/>
                </a:solidFill>
                <a:latin typeface="Helvetica"/>
              </a:rPr>
              <a:t>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46888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AABBCC"/>
                </a:solidFill>
                <a:latin typeface="Helvetica"/>
              </a:rPr>
              <a:t>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46888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AABBCC"/>
                </a:solidFill>
                <a:latin typeface="Helvetica"/>
              </a:rPr>
              <a:t>iter_21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"/>
              </a:rPr>
              <a:t>title_reasoning_leak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99AAB8"/>
                </a:solidFill>
                <a:latin typeface="Helvetica"/>
              </a:rPr>
              <a:t>0.473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78892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76B900"/>
                </a:solidFill>
                <a:latin typeface="Helvetica"/>
              </a:rPr>
              <a:t>→  0.013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0040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"/>
              </a:rPr>
              <a:t>fashion_rate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32004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99AAB8"/>
                </a:solidFill>
                <a:latin typeface="Helvetica"/>
              </a:rPr>
              <a:t>0.853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20040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76B900"/>
                </a:solidFill>
                <a:latin typeface="Helvetica"/>
              </a:rPr>
              <a:t>→  0.970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1188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"/>
              </a:rPr>
              <a:t>attr_grounded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61188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99AAB8"/>
                </a:solidFill>
                <a:latin typeface="Helvetica"/>
              </a:rPr>
              <a:t>0.467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61188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76B900"/>
                </a:solidFill>
                <a:latin typeface="Helvetica"/>
              </a:rPr>
              <a:t>→  0.990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02336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"/>
              </a:rPr>
              <a:t>persona_reflection (1-5)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402336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99AAB8"/>
                </a:solidFill>
                <a:latin typeface="Helvetica"/>
              </a:rPr>
              <a:t>3.62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402336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76B900"/>
                </a:solidFill>
                <a:latin typeface="Helvetica"/>
              </a:rPr>
              <a:t>→  4.66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43484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elvetica"/>
              </a:rPr>
              <a:t>stage_1_2 retention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443484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99AAB8"/>
                </a:solidFill>
                <a:latin typeface="Helvetica"/>
              </a:rPr>
              <a:t>0.00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443484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76B900"/>
                </a:solidFill>
                <a:latin typeface="Helvetica"/>
              </a:rPr>
              <a:t>→  1.00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486400"/>
            <a:ext cx="49377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8899AA"/>
                </a:solidFill>
                <a:latin typeface="Helvetica"/>
              </a:rPr>
              <a:t>Remaining blockers: avg_text_quality (Naver floor) · dedup_miss_rate (→ Stage 2 SD)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691640"/>
            <a:ext cx="5029200" cy="43434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629400" y="1874520"/>
            <a:ext cx="1280160" cy="365760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0E1A2B"/>
                </a:solidFill>
                <a:latin typeface="Helvetica"/>
              </a:rPr>
              <a:t>STAGE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187452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elvetica"/>
              </a:rPr>
              <a:t>6 iters · 12 / 16 gates  (baseline 9 / 16)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468880"/>
            <a:ext cx="25603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66707A"/>
                </a:solidFill>
                <a:latin typeface="Helvetica"/>
              </a:rPr>
              <a:t>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246888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66707A"/>
                </a:solidFill>
                <a:latin typeface="Helvetica"/>
              </a:rPr>
              <a:t>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39" y="246888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66707A"/>
                </a:solidFill>
                <a:latin typeface="Helvetica"/>
              </a:rPr>
              <a:t>iter_04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278892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Helvetica"/>
              </a:rPr>
              <a:t>stage_2_2.coherent_rate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2788920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66707A"/>
                </a:solidFill>
                <a:latin typeface="Helvetica"/>
              </a:rPr>
              <a:t>0.80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39" y="278892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76B900"/>
                </a:solidFill>
                <a:latin typeface="Helvetica"/>
              </a:rPr>
              <a:t>→  0.96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320040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Helvetica"/>
              </a:rPr>
              <a:t>stage_2_2.avg_canonical_fit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3200400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66707A"/>
                </a:solidFill>
                <a:latin typeface="Helvetica"/>
              </a:rPr>
              <a:t>3.63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39" y="320040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76B900"/>
                </a:solidFill>
                <a:latin typeface="Helvetica"/>
              </a:rPr>
              <a:t>→  4.62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361188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Helvetica"/>
              </a:rPr>
              <a:t>stage_2_2.duplicate_pairs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3611880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66707A"/>
                </a:solidFill>
                <a:latin typeface="Helvetica"/>
              </a:rPr>
              <a:t>1.33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39" y="361188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76B900"/>
                </a:solidFill>
                <a:latin typeface="Helvetica"/>
              </a:rPr>
              <a:t>→  0.33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402336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Helvetica"/>
              </a:rPr>
              <a:t>canonical_count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4023360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66707A"/>
                </a:solidFill>
                <a:latin typeface="Helvetica"/>
              </a:rPr>
              <a:t>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39" y="402336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66707A"/>
                </a:solidFill>
                <a:latin typeface="Helvetica"/>
              </a:rPr>
              <a:t>→  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443484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Helvetica"/>
              </a:rPr>
              <a:t>stage_2_3.usefulness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4434840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66707A"/>
                </a:solidFill>
                <a:latin typeface="Helvetica"/>
              </a:rPr>
              <a:t>2.96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39" y="443484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FF7A00"/>
                </a:solidFill>
                <a:latin typeface="Helvetica"/>
              </a:rPr>
              <a:t>→  2.19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5486400"/>
            <a:ext cx="44805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6707A"/>
                </a:solidFill>
                <a:latin typeface="Helvetica"/>
              </a:rPr>
              <a:t>Stop: time budget before demo · E / A / X / combo series queued, not run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6172200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76B900"/>
                </a:solidFill>
                <a:latin typeface="Helvetica"/>
              </a:rPr>
              <a:t>iter_04 C1 · canonical_suffix_enforce — Stage 2.2 three gates crossed in a single prompt patch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54864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Helvetica"/>
              </a:rPr>
              <a:t>Hypotheses: What Worked, What Didn't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66707A"/>
                </a:solidFill>
                <a:latin typeface="Helvetica"/>
              </a:rPr>
              <a:t>Stage 1: 9 wins / 11 rejected · Stage 2 (partial): 1 win / 3 rejected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486400" cy="4160520"/>
          </a:xfrm>
          <a:prstGeom prst="round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783080"/>
            <a:ext cx="1645920" cy="41148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300" b="1">
                <a:solidFill>
                  <a:srgbClr val="0E1A2B"/>
                </a:solidFill>
                <a:latin typeface="Helvetica"/>
              </a:rPr>
              <a:t>WINS · kept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82880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AABBCC"/>
                </a:solidFill>
                <a:latin typeface="Helvetica"/>
              </a:rPr>
              <a:t>Stage 1 (6 shown) + Stage 2 (1) — all committed to the best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4937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76B900"/>
                </a:solidFill>
                <a:latin typeface="Helvetica"/>
              </a:rPr>
              <a:t>H11 · review_requires_attr_mention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87752"/>
            <a:ext cx="4937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"/>
              </a:rPr>
              <a:t>attr_grounded  0.467 → 0.99   (biggest single jump)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40"/>
            <a:ext cx="4937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76B900"/>
                </a:solidFill>
                <a:latin typeface="Helvetica"/>
              </a:rPr>
              <a:t>H3 · title_postprocess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90672"/>
            <a:ext cx="4937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"/>
              </a:rPr>
              <a:t>title_leak  0.473 → 0.06   (best single-lever fix)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37560"/>
            <a:ext cx="4937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76B900"/>
                </a:solidFill>
                <a:latin typeface="Helvetica"/>
              </a:rPr>
              <a:t>H9 · korean_quality_filter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93592"/>
            <a:ext cx="4937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"/>
              </a:rPr>
              <a:t>stage_1_2 retention  0.00 → 1.00   (structural unblock)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40480"/>
            <a:ext cx="4937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76B900"/>
                </a:solidFill>
                <a:latin typeface="Helvetica"/>
              </a:rPr>
              <a:t>H12 · postgen_fashion_filter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96512"/>
            <a:ext cx="4937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"/>
              </a:rPr>
              <a:t>fashion_rate  0.867 → 0.953 → 0.977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343400"/>
            <a:ext cx="4937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76B900"/>
                </a:solidFill>
                <a:latin typeface="Helvetica"/>
              </a:rPr>
              <a:t>H8 · persona_binding_prompt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599432"/>
            <a:ext cx="4937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"/>
              </a:rPr>
              <a:t>persona_reflection  3.62 → 4.51;  rating-sentiment 0.78 → 1.0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46320"/>
            <a:ext cx="4937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76B900"/>
                </a:solidFill>
                <a:latin typeface="Helvetica"/>
              </a:rPr>
              <a:t>H4v2 · rating_category_sampler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102352"/>
            <a:ext cx="4937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"/>
              </a:rPr>
              <a:t>rating_3_share  0.00 → 0.30   (seed side couldn't — H4 falsified)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49240"/>
            <a:ext cx="4937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76B900"/>
                </a:solidFill>
                <a:latin typeface="Helvetica"/>
              </a:rPr>
              <a:t>Stage 2 · iter_04 C1 canonical_suffix_enforce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605272"/>
            <a:ext cx="4937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elvetica"/>
              </a:rPr>
              <a:t>stage_2_2 three gates crossed  (coh · fit · duplicates)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691640"/>
            <a:ext cx="5029200" cy="41605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29400" y="1783080"/>
            <a:ext cx="1645920" cy="411480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300" b="1">
                <a:solidFill>
                  <a:srgbClr val="0E1A2B"/>
                </a:solidFill>
                <a:latin typeface="Helvetica"/>
              </a:rPr>
              <a:t>ROLLED 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1828800"/>
            <a:ext cx="28346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6707A"/>
                </a:solidFill>
                <a:latin typeface="Helvetica"/>
              </a:rPr>
              <a:t>Stage 1 (5 shown) + Stage 2 (2) — cheap negative signals, all in git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331720"/>
            <a:ext cx="44805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7A00"/>
                </a:solidFill>
                <a:latin typeface="Helvetica"/>
              </a:rPr>
              <a:t>H4 · seed_rating_3_injection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587752"/>
            <a:ext cx="44805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elvetica"/>
              </a:rPr>
              <a:t>impossible — Naver corpus has 0 rating=3 rows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834640"/>
            <a:ext cx="44805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7A00"/>
                </a:solidFill>
                <a:latin typeface="Helvetica"/>
              </a:rPr>
              <a:t>H7 · non_fashion_seed_filter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090672"/>
            <a:ext cx="44805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elvetica"/>
              </a:rPr>
              <a:t>regression — exclude-list too aggressive, fashion_rate 0.85 → 0.79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337560"/>
            <a:ext cx="44805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7A00"/>
                </a:solidFill>
                <a:latin typeface="Helvetica"/>
              </a:rPr>
              <a:t>H3v2 · 45_char_cap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593592"/>
            <a:ext cx="44805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elvetica"/>
              </a:rPr>
              <a:t>regression — wider cap let reasoning fragments survive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840480"/>
            <a:ext cx="44805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7A00"/>
                </a:solidFill>
                <a:latin typeface="Helvetica"/>
              </a:rPr>
              <a:t>H3v4 · prose_reasoning_fallback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096512"/>
            <a:ext cx="44805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elvetica"/>
              </a:rPr>
              <a:t>regression — 4-char Korean fallback broke min-length format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343400"/>
            <a:ext cx="44805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7A00"/>
                </a:solidFill>
                <a:latin typeface="Helvetica"/>
              </a:rPr>
              <a:t>H14 / H14v2 · python_jaccard dedup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599432"/>
            <a:ext cx="44805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elvetica"/>
              </a:rPr>
              <a:t>no-op — pure-Python rule dedup fired 0 removals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846320"/>
            <a:ext cx="44805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7A00"/>
                </a:solidFill>
                <a:latin typeface="Helvetica"/>
              </a:rPr>
              <a:t>Stage 2 · SD1 / SD2 semdedup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102352"/>
            <a:ext cx="44805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elvetica"/>
              </a:rPr>
              <a:t>partial_skip — retention drop → stage_2_3 usefulness regressed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349240"/>
            <a:ext cx="44805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7A00"/>
                </a:solidFill>
                <a:latin typeface="Helvetica"/>
              </a:rPr>
              <a:t>Stage 2 · SD3 signature_combo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605272"/>
            <a:ext cx="44805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Helvetica"/>
              </a:rPr>
              <a:t>falsified — keywords were signal, not noise (retention 38 %)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12648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66707A"/>
                </a:solidFill>
                <a:latin typeface="Helvetica"/>
              </a:rPr>
              <a:t>Falsifiability is cheap at 13 min per iter. Every "loss" was a ruled-out branch — not wasted work but a recorded negative signal in git.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" cy="54864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9728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Helvetica"/>
              </a:rPr>
              <a:t>Data +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66707A"/>
                </a:solidFill>
                <a:latin typeface="Helvetica"/>
              </a:rPr>
              <a:t>What we curated and where it plugs 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572000" cy="4114800"/>
          </a:xfrm>
          <a:prstGeom prst="roundRect">
            <a:avLst/>
          </a:prstGeom>
          <a:solidFill>
            <a:srgbClr val="0E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023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76B900"/>
                </a:solidFill>
                <a:latin typeface="Helvetica"/>
              </a:rPr>
              <a:t>Data acquired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402336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FFFFF"/>
                </a:solidFill>
                <a:latin typeface="Helvetica"/>
              </a:rPr>
              <a:t>•  10 K Korean fashion reviews (Musinsa, Naver Shopping, YouTube)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FFFFFF"/>
                </a:solidFill>
                <a:latin typeface="Helvetica"/>
              </a:rPr>
              <a:t>•  Synthetic expansion → 5 497 curated reviews (Stage 1 pipeline)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FFFFFF"/>
                </a:solidFill>
                <a:latin typeface="Helvetica"/>
              </a:rPr>
              <a:t>•  Curated to 260 canonical TPOs (Stage 2.2 clustering + LLM naming)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FFFFFF"/>
                </a:solidFill>
                <a:latin typeface="Helvetica"/>
              </a:rPr>
              <a:t>•  Long-tail examples: 스크린골프, 낚시복, 필라테스 레이어, 분식룩</a:t>
            </a:r>
          </a:p>
          <a:p>
            <a:pPr lvl="1" algn="l">
              <a:lnSpc>
                <a:spcPct val="135000"/>
              </a:lnSpc>
            </a:pPr>
            <a:r>
              <a:rPr sz="1100" b="0">
                <a:solidFill>
                  <a:srgbClr val="AABBCC"/>
                </a:solidFill>
                <a:latin typeface="Helvetica"/>
              </a:rPr>
              <a:t>–  Head-tail coverage: 일상용 (1 145), 출근룩 (581), 데일리룩 (293)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783080"/>
            <a:ext cx="5943600" cy="41148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1965960"/>
            <a:ext cx="5394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7A00"/>
                </a:solidFill>
                <a:latin typeface="Helvetica"/>
              </a:rPr>
              <a:t>Use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697480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E1A2B"/>
                </a:solidFill>
                <a:latin typeface="Helvetica"/>
              </a:rPr>
              <a:t>▸ Semantic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697480"/>
            <a:ext cx="32004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Helvetica"/>
              </a:rPr>
              <a:t>Natural-language query → canonical TPO → attribute filter on catalog.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502152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E1A2B"/>
                </a:solidFill>
                <a:latin typeface="Helvetica"/>
              </a:rPr>
              <a:t>▸ 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502152"/>
            <a:ext cx="32004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Helvetica"/>
              </a:rPr>
              <a:t>Customer situation (upcoming event, weather, mood) → ranked intent bundle.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4306824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E1A2B"/>
                </a:solidFill>
                <a:latin typeface="Helvetica"/>
              </a:rPr>
              <a:t>▸ Ad / SEO copy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306824"/>
            <a:ext cx="32004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Helvetica"/>
              </a:rPr>
              <a:t>1 canonical × 5 natural-language variants → ready-made keyword sets.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5111496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E1A2B"/>
                </a:solidFill>
                <a:latin typeface="Helvetica"/>
              </a:rPr>
              <a:t>▸ Catalog expansion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5111496"/>
            <a:ext cx="32004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Helvetica"/>
              </a:rPr>
              <a:t>Long-tail TPOs surface product gaps (e.g. 스크린골프 웨어 demand signal).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76B900"/>
                </a:solidFill>
                <a:latin typeface="Helvetica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